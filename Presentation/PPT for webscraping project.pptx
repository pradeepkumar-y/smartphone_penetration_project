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791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70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8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575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288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68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28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72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9133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808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391936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9158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78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88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84800-4B44-4272-823E-F804702095D6}" type="datetimeFigureOut">
              <a:rPr lang="en-IN" smtClean="0"/>
              <a:t>16-11-2025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B4039A0-6530-4154-9F00-9954AD084C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222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0FAE48-2DFD-63E4-7F9C-0FB7FB2F42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57600" cy="2438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B6C88B-C110-C3DD-A4E4-91EEC85EE4EC}"/>
              </a:ext>
            </a:extLst>
          </p:cNvPr>
          <p:cNvSpPr txBox="1"/>
          <p:nvPr/>
        </p:nvSpPr>
        <p:spPr>
          <a:xfrm>
            <a:off x="704088" y="2359152"/>
            <a:ext cx="98755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Smartphone Penetration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857725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ED0F-5DFE-7558-A29B-D49FA6E41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DBFDD-C718-7F91-E887-A7653E0F2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dirty="0"/>
              <a:t>Objective:	</a:t>
            </a:r>
            <a:r>
              <a:rPr lang="en-US" sz="2000" dirty="0"/>
              <a:t>Scrape and analyze smartphone penetration data from 					Wikipedia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Tasks	:	 Web scraping, data cleaning, KPIs, and visual insights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/>
              <a:t>Tools 	:	 Python, </a:t>
            </a:r>
            <a:r>
              <a:rPr lang="en-US" sz="2000" dirty="0" err="1"/>
              <a:t>BeautifulSoup</a:t>
            </a:r>
            <a:r>
              <a:rPr lang="en-US" sz="2000" dirty="0"/>
              <a:t>, Pandas, Seaborn, Matplotlib</a:t>
            </a:r>
          </a:p>
        </p:txBody>
      </p:sp>
    </p:spTree>
    <p:extLst>
      <p:ext uri="{BB962C8B-B14F-4D97-AF65-F5344CB8AC3E}">
        <p14:creationId xmlns:p14="http://schemas.microsoft.com/office/powerpoint/2010/main" val="4107721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9014-9805-52B4-D70E-C75127BC5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8304"/>
          </a:xfrm>
        </p:spPr>
        <p:txBody>
          <a:bodyPr/>
          <a:lstStyle/>
          <a:p>
            <a:r>
              <a:rPr lang="en-IN" dirty="0"/>
              <a:t>				Web Scraping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F617C-9892-D6AF-5724-2985546B3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7321"/>
            <a:ext cx="8596668" cy="462404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b="1" dirty="0"/>
              <a:t>Fetched Wikipedia page using Requests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Added custom </a:t>
            </a:r>
            <a:r>
              <a:rPr lang="en-US" b="1" dirty="0"/>
              <a:t>User-Agent header</a:t>
            </a:r>
            <a:r>
              <a:rPr lang="en-US" dirty="0"/>
              <a:t> to avoid HTTP 403 </a:t>
            </a:r>
            <a:r>
              <a:rPr lang="en-US" dirty="0" err="1"/>
              <a:t>erro</a:t>
            </a:r>
            <a:endParaRPr lang="en-US" dirty="0"/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Ensured stable connection with proper error handling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Verified the status code (200 OK) before parsing</a:t>
            </a: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IN" sz="2000" b="1" dirty="0"/>
              <a:t>Parsed HTML with </a:t>
            </a:r>
            <a:r>
              <a:rPr lang="en-IN" sz="2000" b="1" dirty="0" err="1"/>
              <a:t>BeautifulSoup</a:t>
            </a:r>
            <a:r>
              <a:rPr lang="en-IN" sz="2000" b="1" dirty="0"/>
              <a:t>.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Loaded the raw HTML into a structured, searchable format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Located &lt;table&gt; tags containing “</a:t>
            </a:r>
            <a:r>
              <a:rPr lang="en-US" dirty="0" err="1"/>
              <a:t>wikitable</a:t>
            </a:r>
            <a:r>
              <a:rPr lang="en-US" dirty="0"/>
              <a:t>” class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Cleaned and filtered the HTML elements before extracting data</a:t>
            </a:r>
            <a:endParaRPr lang="en-IN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Extracted target table using </a:t>
            </a:r>
            <a:r>
              <a:rPr lang="en-US" sz="2000" b="1" dirty="0" err="1"/>
              <a:t>pandas.read_html</a:t>
            </a:r>
            <a:r>
              <a:rPr lang="en-US" sz="2000" b="1" dirty="0"/>
              <a:t>().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Converted HTML table directly into a </a:t>
            </a:r>
            <a:r>
              <a:rPr lang="en-US" b="1" dirty="0"/>
              <a:t>pandas </a:t>
            </a:r>
            <a:r>
              <a:rPr lang="en-US" b="1" dirty="0" err="1"/>
              <a:t>DataFrame</a:t>
            </a:r>
            <a:endParaRPr lang="en-US" b="1" dirty="0"/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Automatically handled rows, columns, numeric formatting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Selected the correct table among multiple tables on the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1367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871D-4351-9860-C1CF-0F8239F3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07720"/>
          </a:xfrm>
        </p:spPr>
        <p:txBody>
          <a:bodyPr/>
          <a:lstStyle/>
          <a:p>
            <a:r>
              <a:rPr lang="en-IN" dirty="0"/>
              <a:t>					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4F2C6-3EB8-BA28-D25E-789C6BB5C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7321"/>
            <a:ext cx="8596668" cy="4624042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2000" b="1" dirty="0"/>
              <a:t>Removed '%' and 'M' symbols.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Cleaned percentage values for numerical operations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Standardized population and user counts by removing “million” suffix</a:t>
            </a:r>
          </a:p>
          <a:p>
            <a:pPr marL="514350" indent="-514350">
              <a:buFont typeface="+mj-lt"/>
              <a:buAutoNum type="romanUcPeriod"/>
            </a:pPr>
            <a:r>
              <a:rPr lang="en-US" dirty="0"/>
              <a:t>Ensured consistent formatting across all rows</a:t>
            </a:r>
            <a:endParaRPr lang="en-IN" sz="2000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Converted population &amp; user counts to numeric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Converted text values (e.g., "1,430M") into float numbers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Enabled accurate mathematical operations, comparisons, and KPI calculations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Handled missing or inconsistent data where necessary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/>
              <a:t>Created penetration ranges using </a:t>
            </a:r>
            <a:r>
              <a:rPr lang="en-US" b="1" dirty="0" err="1"/>
              <a:t>pd.cut</a:t>
            </a:r>
            <a:r>
              <a:rPr lang="en-US" b="1" dirty="0"/>
              <a:t>().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Grouped countries into logical bins (0–30%, 30–50%, 50–70%, 70–90%, 90–100%)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Allowed clearer segmentation and visual comparison</a:t>
            </a:r>
          </a:p>
          <a:p>
            <a:pPr marL="400050" indent="-400050">
              <a:buFont typeface="+mj-lt"/>
              <a:buAutoNum type="romanUcPeriod"/>
            </a:pPr>
            <a:r>
              <a:rPr lang="en-US" dirty="0"/>
              <a:t>Helped generate insights such as which range most countries fall into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1261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13DF-7C2D-90EB-ADED-092C06FDF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	Key Performance Indicators (KPIs)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6D8D8-B8A9-9E21-BD46-9ECB5700B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17905"/>
            <a:ext cx="8596668" cy="452345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Average, Median &amp; Standard Deviation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Highest &amp; Lowest Penetration Countries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Range of Penetration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Interquartile Range (IQR)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Weighted Penetration (Population-Adjusted)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Share of Countries ≥70% Penetration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Top-3 vs Bottom-3 Penetration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Skewness Indicator (Median – Mean)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Countries in Each Penetration Range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dirty="0"/>
              <a:t>Most Common Penetration Band</a:t>
            </a:r>
          </a:p>
          <a:p>
            <a:pPr>
              <a:buFont typeface="Wingdings" panose="05000000000000000000" pitchFamily="2" charset="2"/>
              <a:buChar char="q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9243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D508C-94E3-7DF9-DCF4-56B386B1F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26008"/>
          </a:xfrm>
        </p:spPr>
        <p:txBody>
          <a:bodyPr/>
          <a:lstStyle/>
          <a:p>
            <a:r>
              <a:rPr lang="en-US" b="1" dirty="0"/>
              <a:t>Top 10 Most Populated Countries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355DF-8E1A-9F36-41E5-1FD2278D924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/>
              <a:t>Purpose: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To visually compare smartphone penetration levels across the top 10 countries.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To identify which nations lead in digital adoption and mobile connectivity.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To highlight global disparities in smartphone accessibility.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To provide a quick, ranked overview of countries with the highest smartphone usage</a:t>
            </a:r>
            <a:r>
              <a:rPr lang="en-US" sz="14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614D53-4341-775D-9C9F-BF22D0400A2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524" y="1920239"/>
            <a:ext cx="4752077" cy="4121122"/>
          </a:xfrm>
        </p:spPr>
      </p:pic>
    </p:spTree>
    <p:extLst>
      <p:ext uri="{BB962C8B-B14F-4D97-AF65-F5344CB8AC3E}">
        <p14:creationId xmlns:p14="http://schemas.microsoft.com/office/powerpoint/2010/main" val="2957860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452E-F681-6793-2EF5-FE406FE3A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Bottom 10 Countries by Smartphone Penetration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F45A7-936A-4887-0BA6-DF91674BE8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Purpose: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To highlight countries with the lowest smartphone adoption levels.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To identify regions where digital connectivity is still limited.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To help understand global inequalities in smartphone access.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dirty="0"/>
              <a:t>To support discussion on why adoption is low (economy, infrastructure, policy, etc.).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76A4880-1D4D-4F84-822A-BFEA57A4AA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525" y="2441448"/>
            <a:ext cx="4184650" cy="3063240"/>
          </a:xfrm>
        </p:spPr>
      </p:pic>
    </p:spTree>
    <p:extLst>
      <p:ext uri="{BB962C8B-B14F-4D97-AF65-F5344CB8AC3E}">
        <p14:creationId xmlns:p14="http://schemas.microsoft.com/office/powerpoint/2010/main" val="21856245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81D74-8721-8E98-7EBA-B6A5DCBCB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of Smartphone Penetration Rates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BB75C-EDEC-D5DA-30A9-709FE83737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/>
              <a:t>Purpose: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visualize how smartphone penetration is distributed across countries.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identify clusters and patterns in adoption rates.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understand variability and inequality in smartphone access.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check for skewness or outliers.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C3402B0-70EC-9E22-4FF3-061CBE6764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525" y="2160589"/>
            <a:ext cx="4184035" cy="3289235"/>
          </a:xfrm>
        </p:spPr>
      </p:pic>
    </p:spTree>
    <p:extLst>
      <p:ext uri="{BB962C8B-B14F-4D97-AF65-F5344CB8AC3E}">
        <p14:creationId xmlns:p14="http://schemas.microsoft.com/office/powerpoint/2010/main" val="2241380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55EB2-2E6E-9F7C-2131-CF781B545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Penetration Range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5AFE4-33F5-4452-37A2-E6730F6E8B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/>
              <a:t>Purpose: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categorize countries into penetration brackets.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quickly identify which adoption tier is most common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evaluate distribution across penetration levels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highlight gaps in extreme ranges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support segmentation-based analysis</a:t>
            </a:r>
            <a:endParaRPr lang="en-IN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438960-49A3-1F71-53DE-67A752F94E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525" y="2615184"/>
            <a:ext cx="4184650" cy="2916936"/>
          </a:xfrm>
        </p:spPr>
      </p:pic>
    </p:spTree>
    <p:extLst>
      <p:ext uri="{BB962C8B-B14F-4D97-AF65-F5344CB8AC3E}">
        <p14:creationId xmlns:p14="http://schemas.microsoft.com/office/powerpoint/2010/main" val="2478482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F83F1-D54B-B54E-D8A4-A29B6DA37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Smartphone Penetration by Country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96FEC-05B6-FBD5-D2C0-207C7106C2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Purpose: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compare smartphone penetration across individual countries.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highlight outliers and extreme performers.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visualize variation within the dataset.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To understand regional digital maturity.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 support ranking and target prioritization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E387EA-1E8B-6E47-06CF-9334C1EED6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524" y="2267712"/>
            <a:ext cx="4529963" cy="3410712"/>
          </a:xfrm>
        </p:spPr>
      </p:pic>
    </p:spTree>
    <p:extLst>
      <p:ext uri="{BB962C8B-B14F-4D97-AF65-F5344CB8AC3E}">
        <p14:creationId xmlns:p14="http://schemas.microsoft.com/office/powerpoint/2010/main" val="3861164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CC82-CB48-71B8-094F-C98F4EA4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9432"/>
          </a:xfrm>
        </p:spPr>
        <p:txBody>
          <a:bodyPr/>
          <a:lstStyle/>
          <a:p>
            <a:r>
              <a:rPr lang="en-IN" b="1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C172F-8117-1A6F-F2B7-D2BA55264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2185"/>
            <a:ext cx="8596668" cy="4569178"/>
          </a:xfrm>
        </p:spPr>
        <p:txBody>
          <a:bodyPr/>
          <a:lstStyle/>
          <a:p>
            <a:r>
              <a:rPr lang="en-US" dirty="0"/>
              <a:t>Successfully scraped, cleaned, and analyzed smartphone penetration data.</a:t>
            </a:r>
          </a:p>
          <a:p>
            <a:r>
              <a:rPr lang="en-US" dirty="0"/>
              <a:t>Visualizations revealed clear differences in adoption across countries.</a:t>
            </a:r>
          </a:p>
          <a:p>
            <a:r>
              <a:rPr lang="en-US" dirty="0"/>
              <a:t>High-penetration countries (e.g., U.S., Japan) show strong digital maturity</a:t>
            </a:r>
          </a:p>
          <a:p>
            <a:r>
              <a:rPr lang="en-US" dirty="0"/>
              <a:t>Low-penetration countries (e.g., Pakistan, Nigeria) show high growth potential.</a:t>
            </a:r>
          </a:p>
          <a:p>
            <a:r>
              <a:rPr lang="en-US" dirty="0"/>
              <a:t>Most countries fall in the 50–70% range, indicating rising global connectivity.</a:t>
            </a:r>
          </a:p>
          <a:p>
            <a:r>
              <a:rPr lang="en-US"/>
              <a:t>Project demonstrates effective use of web scraping, data processing, and EDA for real-world insights.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90594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314</TotalTime>
  <Words>646</Words>
  <Application>Microsoft Office PowerPoint</Application>
  <PresentationFormat>Widescreen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Trebuchet MS</vt:lpstr>
      <vt:lpstr>Wingdings</vt:lpstr>
      <vt:lpstr>Wingdings 3</vt:lpstr>
      <vt:lpstr>Facet</vt:lpstr>
      <vt:lpstr>PowerPoint Presentation</vt:lpstr>
      <vt:lpstr>Project Overview</vt:lpstr>
      <vt:lpstr>    Web Scraping Process</vt:lpstr>
      <vt:lpstr>     Data Cleaning</vt:lpstr>
      <vt:lpstr> Key Performance Indicators (KPIs)</vt:lpstr>
      <vt:lpstr>Top 10 Most Populated Countries</vt:lpstr>
      <vt:lpstr>Bottom 10 Countries by Smartphone Penetration</vt:lpstr>
      <vt:lpstr>Distribution of Smartphone Penetration Rates</vt:lpstr>
      <vt:lpstr>Penetration Range Groups</vt:lpstr>
      <vt:lpstr>Smartphone Penetration by Country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pradeep kumar</dc:creator>
  <cp:lastModifiedBy>pradeep kumar</cp:lastModifiedBy>
  <cp:revision>7</cp:revision>
  <dcterms:created xsi:type="dcterms:W3CDTF">2025-11-15T04:23:53Z</dcterms:created>
  <dcterms:modified xsi:type="dcterms:W3CDTF">2025-11-16T17:44:50Z</dcterms:modified>
</cp:coreProperties>
</file>